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63" r:id="rId4"/>
    <p:sldId id="269" r:id="rId5"/>
    <p:sldId id="276" r:id="rId6"/>
    <p:sldId id="281" r:id="rId7"/>
    <p:sldId id="277" r:id="rId8"/>
    <p:sldId id="282" r:id="rId9"/>
    <p:sldId id="278" r:id="rId10"/>
    <p:sldId id="284" r:id="rId11"/>
    <p:sldId id="279" r:id="rId12"/>
    <p:sldId id="283" r:id="rId13"/>
    <p:sldId id="280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72823-0472-4180-86FF-77199D3509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D442-A820-45BF-AA47-712D995F8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9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DC39-5A3B-0207-1AAA-D4145A92B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F5EB2-67B2-0513-3265-405F09B4F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52D32-45B6-0B2D-BA67-E99E2F2A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0AEF-C3B7-F6C8-0C72-C5BBB359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CAA56-F6B8-4F34-6AB2-DC8ECD28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0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B71A-C71A-D542-E589-9BEA92B9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4941-3150-5C1F-DAB8-238FA811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16B44-3DF6-5948-4A0C-C2242804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276C-E283-6D86-E98E-8A15EF96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41AF8-6C9A-3D07-4100-ECFB209C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2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4495-EF01-ECC9-4304-CD7FA5B2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F2C2E-3E0B-6584-3534-71BC89DC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B7EE6-E81C-A9D5-A0D0-381FCBF6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CA264-CE86-673C-4669-84A31D22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AB59-AB09-075D-5547-47099A5D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0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4703-F498-308B-118E-25DE1D3D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3A51F-7CC3-3C86-C91B-E9806C49D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2641C-4B41-4A04-F922-9613AE76B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B6ED2-5198-30E7-F5A0-5C85B101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C21CC-CB5F-984A-5381-BDEAE963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BDDB9-8B71-D01D-2FF5-84E88641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5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73C8-D392-04ED-6AAE-FC090D5D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D9168-C629-501C-2759-7688A81AD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DD1C3-38E0-5D6F-D583-C8D966E00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BF135-AEBB-EE3B-F96B-5BEE3AAF2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11A6E-D7B3-8DDC-E3D7-1BE36EA31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60C35-39E2-BC3A-BC93-270F83D7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12FAB-A304-462E-9C47-16967E83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53F71-88C1-4300-2A51-88C4E6B3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8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5489-300B-0FD6-882B-07111389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70376-2AFB-47AD-4439-92BC0C15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475164-0E74-69B7-A9E8-CC795B83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5FCB1-D0FE-7DA4-5D16-B2254792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ED04F-B522-3B68-6129-20AC6EDD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80D41-C4AE-0F2D-9EC0-DBD8BBF7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43013-0250-4498-B33E-EE581D6F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04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4A08-AE29-8FA3-D83A-859F659E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E16B2-99FF-9E2E-C098-535FAE21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C162F-A42B-8779-33D1-8C06CFFE3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7E9AD-F150-CB95-64F8-9B0E9C5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EE651-F8CE-244E-826D-D6171BDD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E8A1F-7EBC-4A9A-1E1C-09B88E2C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6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FC91-AFD5-D912-DEC3-C4987839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8A166F-711D-BB8A-BA69-B9698CD5B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D032F-52D0-A4F7-D2F8-8B09FC51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A3006-229C-8D13-876B-A64EEF1A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CE551-5BAE-BC99-A789-5E184B9E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14084-1413-D561-B7BE-FA1D386E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3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E308-3AF2-17B6-69C7-36F9C085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346DE-582C-94AE-F62F-00E32A8C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ECDB7-0ED3-13E2-9AE5-C5877BA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38724-7DF3-6079-FCBC-BCBBA9A4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8BEF6-C4C7-2BEA-F94B-5E1762E1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3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EF5E0-6B0B-DFC0-5743-341064FF8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7A3DC-CA39-0E7C-550D-138DE5228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9407E-3B72-5330-B293-31501629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EDAB7-E849-02D7-2C88-8921F202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359C8-8808-4891-2140-203D023A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8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1BD2E-0D90-2E98-EFCC-77F5531B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E2281-E9E0-C0AB-04D9-11A13B80B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D03D9-E34E-9C53-5466-A97CD3288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E876B-37A1-46C4-9B93-18AAA82B51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9127A-1901-9387-D483-1AB67BE91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7B6E1-14FE-645E-E840-BF21EFF4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13B43-0861-4DA3-933E-4D0281F9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0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292D3E-B221-73EC-3408-1BEF8C535A1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51DD0FE-B7F7-C1F2-F455-834B8140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CFF403-D2D9-CFAC-FB55-6A3570326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749" y="1489820"/>
            <a:ext cx="10414503" cy="3514722"/>
          </a:xfrm>
        </p:spPr>
        <p:txBody>
          <a:bodyPr anchor="ctr">
            <a:normAutofit/>
          </a:bodyPr>
          <a:lstStyle/>
          <a:p>
            <a:r>
              <a:rPr lang="en-US" sz="4700" b="1" spc="50" dirty="0">
                <a:latin typeface="Calisto MT" panose="02040603050505030304" pitchFamily="18" charset="0"/>
                <a:ea typeface="CMU Serif" panose="02000603000000000000" pitchFamily="2" charset="0"/>
                <a:cs typeface="CMU Serif" panose="02000603000000000000" pitchFamily="2" charset="0"/>
              </a:rPr>
              <a:t>Preliminary Detection of Neutron Monitor Forbush Decrease (FD) Events from Cross-Correlation</a:t>
            </a:r>
            <a:br>
              <a:rPr lang="en-US" sz="4700" b="1" spc="50" dirty="0">
                <a:latin typeface="Calisto MT" panose="02040603050505030304" pitchFamily="18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en-US" sz="4700" b="1" spc="50" dirty="0">
                <a:latin typeface="Calisto MT" panose="02040603050505030304" pitchFamily="18" charset="0"/>
                <a:ea typeface="CMU Serif" panose="02000603000000000000" pitchFamily="2" charset="0"/>
                <a:cs typeface="CMU Serif" panose="02000603000000000000" pitchFamily="2" charset="0"/>
              </a:rPr>
              <a:t>with Historical FD Data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B5BFBC6-A34F-6F60-4A9C-241027966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743" y="5004542"/>
            <a:ext cx="10414503" cy="650309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Chatdanai Sawangwong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FFDFAF5-D071-97C9-F983-DC5722AAE50B}"/>
              </a:ext>
            </a:extLst>
          </p:cNvPr>
          <p:cNvSpPr txBox="1">
            <a:spLocks/>
          </p:cNvSpPr>
          <p:nvPr/>
        </p:nvSpPr>
        <p:spPr>
          <a:xfrm>
            <a:off x="888747" y="696920"/>
            <a:ext cx="10414503" cy="650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Signal and Imaging Processing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55422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3959-CDE2-E88C-BBF4-E3BBA834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 of a diagram of a nuclear explosion&#10;&#10;AI-generated content may be incorrect.">
            <a:extLst>
              <a:ext uri="{FF2B5EF4-FFF2-40B4-BE49-F238E27FC236}">
                <a16:creationId xmlns:a16="http://schemas.microsoft.com/office/drawing/2014/main" id="{B3DB4399-F1D0-7FB6-E027-9FA98452A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" r="33358" b="5205"/>
          <a:stretch>
            <a:fillRect/>
          </a:stretch>
        </p:blipFill>
        <p:spPr>
          <a:xfrm>
            <a:off x="7152955" y="681037"/>
            <a:ext cx="4634657" cy="5653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E76CC-B001-3BBA-16ED-79426BBC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Cosmic Rays</a:t>
            </a:r>
            <a:endParaRPr lang="en-US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53FFA-4CE3-8E59-61D4-A1AE378D9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475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High-energy particles from outer space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They collide with air particles in the atmosphere to form “air showers.”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Cosmic rays can be detected with </a:t>
            </a: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neutron monitors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(NM).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1355C7-FF05-2D8C-6E18-2BF73268D34C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460FAF8-469C-7569-90CB-3A75FDF5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2048F1-85C0-584A-8577-311D9FEA02DD}"/>
              </a:ext>
            </a:extLst>
          </p:cNvPr>
          <p:cNvSpPr txBox="1">
            <a:spLocks/>
          </p:cNvSpPr>
          <p:nvPr/>
        </p:nvSpPr>
        <p:spPr>
          <a:xfrm>
            <a:off x="9207374" y="365125"/>
            <a:ext cx="2580238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Barrantes, et al. (2018)</a:t>
            </a:r>
          </a:p>
          <a:p>
            <a:pPr algn="r">
              <a:lnSpc>
                <a:spcPct val="100000"/>
              </a:lnSpc>
            </a:pPr>
            <a:endParaRPr lang="en-US" sz="1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Picture 11" descr="Diagram of a diagram of a wire wall and a wood panel&#10;&#10;AI-generated content may be incorrect.">
            <a:extLst>
              <a:ext uri="{FF2B5EF4-FFF2-40B4-BE49-F238E27FC236}">
                <a16:creationId xmlns:a16="http://schemas.microsoft.com/office/drawing/2014/main" id="{801B8FCD-E08E-61C9-ED06-1C4C55E61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987" y="4755572"/>
            <a:ext cx="4364013" cy="165832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B9E6837-0C61-78DF-42C8-55773C90A930}"/>
              </a:ext>
            </a:extLst>
          </p:cNvPr>
          <p:cNvSpPr txBox="1">
            <a:spLocks/>
          </p:cNvSpPr>
          <p:nvPr/>
        </p:nvSpPr>
        <p:spPr>
          <a:xfrm>
            <a:off x="4780229" y="6152305"/>
            <a:ext cx="1686944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Ruffolo (2020)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FC5C7-3803-3FD5-F829-95F5A01DF1B3}"/>
              </a:ext>
            </a:extLst>
          </p:cNvPr>
          <p:cNvSpPr/>
          <p:nvPr/>
        </p:nvSpPr>
        <p:spPr>
          <a:xfrm>
            <a:off x="10167042" y="2658308"/>
            <a:ext cx="1517857" cy="31268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680674-D4C2-05D1-E622-08CEA07348FD}"/>
              </a:ext>
            </a:extLst>
          </p:cNvPr>
          <p:cNvCxnSpPr>
            <a:cxnSpLocks/>
          </p:cNvCxnSpPr>
          <p:nvPr/>
        </p:nvCxnSpPr>
        <p:spPr>
          <a:xfrm flipH="1">
            <a:off x="4934139" y="4597616"/>
            <a:ext cx="859836" cy="10089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35CED-476D-A462-1576-887B20105471}"/>
              </a:ext>
            </a:extLst>
          </p:cNvPr>
          <p:cNvCxnSpPr/>
          <p:nvPr/>
        </p:nvCxnSpPr>
        <p:spPr>
          <a:xfrm>
            <a:off x="5793975" y="4597616"/>
            <a:ext cx="43730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65F7D-BE78-71BC-81DE-3DB2CDA96497}"/>
              </a:ext>
            </a:extLst>
          </p:cNvPr>
          <p:cNvSpPr txBox="1">
            <a:spLocks/>
          </p:cNvSpPr>
          <p:nvPr/>
        </p:nvSpPr>
        <p:spPr>
          <a:xfrm>
            <a:off x="4178269" y="6492875"/>
            <a:ext cx="3835463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Source: Barrantes, et al. (2018)</a:t>
            </a:r>
          </a:p>
          <a:p>
            <a:pPr algn="ctr">
              <a:lnSpc>
                <a:spcPct val="100000"/>
              </a:lnSpc>
            </a:pPr>
            <a:endParaRPr lang="en-US" sz="1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2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C1CC-D5F8-4A71-CA1E-1DABBFB8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6739-3090-ACCF-4F02-8F46DF66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Forbush Decreases (FD)</a:t>
            </a:r>
            <a:endParaRPr lang="en-US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EB33-7E89-9201-E739-3E43FF58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745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Rapid decrease in observed cosmic ray intensity (up to 20%)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Occurs due to plasma ejections from the Sun sweeping cosmic rays away from Earth.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792D61-0D9B-E992-39F4-9E3457AEAF48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AFEB048-8DF0-87D2-B325-DB31CD86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 descr="A graph showing a number of values&#10;&#10;AI-generated content may be incorrect.">
            <a:extLst>
              <a:ext uri="{FF2B5EF4-FFF2-40B4-BE49-F238E27FC236}">
                <a16:creationId xmlns:a16="http://schemas.microsoft.com/office/drawing/2014/main" id="{85111014-901F-0A0B-6E61-57DF5E6CB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734" y="1825625"/>
            <a:ext cx="5578266" cy="363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17F240-ECD0-5E51-BF5B-648B2E5C196F}"/>
              </a:ext>
            </a:extLst>
          </p:cNvPr>
          <p:cNvSpPr txBox="1">
            <a:spLocks/>
          </p:cNvSpPr>
          <p:nvPr/>
        </p:nvSpPr>
        <p:spPr>
          <a:xfrm>
            <a:off x="8863342" y="1471063"/>
            <a:ext cx="3150606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Retrieved from </a:t>
            </a:r>
            <a:r>
              <a:rPr lang="en-US" sz="18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nmdb</a:t>
            </a: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NEST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6AF741-A37F-8626-2B5F-0A86E66F2B29}"/>
              </a:ext>
            </a:extLst>
          </p:cNvPr>
          <p:cNvSpPr txBox="1">
            <a:spLocks/>
          </p:cNvSpPr>
          <p:nvPr/>
        </p:nvSpPr>
        <p:spPr>
          <a:xfrm>
            <a:off x="4178269" y="6492875"/>
            <a:ext cx="3835463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Source: Barrantes, et al. (2018)</a:t>
            </a:r>
          </a:p>
          <a:p>
            <a:pPr algn="ctr">
              <a:lnSpc>
                <a:spcPct val="100000"/>
              </a:lnSpc>
            </a:pPr>
            <a:endParaRPr lang="en-US" sz="1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06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532D-1E5F-6F2E-3E3E-D46D446C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4B42-4B0B-24A6-C393-E114E30E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SIP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EA1E-FDFB-E5BE-B67F-0EB0D914B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1075" cy="40684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 data retrieval: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nmdb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NEST</a:t>
            </a:r>
          </a:p>
          <a:p>
            <a:pPr>
              <a:lnSpc>
                <a:spcPct val="100000"/>
              </a:lnSpc>
            </a:pPr>
            <a:r>
              <a:rPr lang="en-US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Stations: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OULU, THUL, SOPO, AATB, LMKS</a:t>
            </a:r>
          </a:p>
          <a:p>
            <a:pPr>
              <a:lnSpc>
                <a:spcPct val="100000"/>
              </a:lnSpc>
            </a:pPr>
            <a:r>
              <a:rPr lang="en-US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resolution: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 minutes</a:t>
            </a:r>
          </a:p>
          <a:p>
            <a:pPr>
              <a:lnSpc>
                <a:spcPct val="100000"/>
              </a:lnSpc>
            </a:pPr>
            <a:r>
              <a:rPr lang="en-US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To-do: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Cross-correlate FD data from 2015 on data across entire years of 2005, 2022, 2023 and 2024.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Evaluate performance (TP/FP/FN)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94F1DF-0AE3-A2B5-BD7F-78C04B80F0A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3436424-CC83-3B55-E679-7049AE38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3168" y="6492875"/>
            <a:ext cx="648832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4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Picture 8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2E5BD60-6679-D56F-B935-068CA4237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733" y="3663231"/>
            <a:ext cx="4338788" cy="2829644"/>
          </a:xfrm>
          <a:prstGeom prst="rect">
            <a:avLst/>
          </a:prstGeom>
        </p:spPr>
      </p:pic>
      <p:pic>
        <p:nvPicPr>
          <p:cNvPr id="11" name="Picture 10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63BEF75-60B8-0609-0D31-8F94A15508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733" y="833587"/>
            <a:ext cx="4338788" cy="282964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F7F1C8-7EF0-4462-8C2A-335DCD6F9FB3}"/>
              </a:ext>
            </a:extLst>
          </p:cNvPr>
          <p:cNvSpPr txBox="1">
            <a:spLocks/>
          </p:cNvSpPr>
          <p:nvPr/>
        </p:nvSpPr>
        <p:spPr>
          <a:xfrm>
            <a:off x="9370337" y="2501746"/>
            <a:ext cx="2580238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2017-09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80CE52-BE77-257D-8911-9F706B07AC38}"/>
              </a:ext>
            </a:extLst>
          </p:cNvPr>
          <p:cNvSpPr txBox="1">
            <a:spLocks/>
          </p:cNvSpPr>
          <p:nvPr/>
        </p:nvSpPr>
        <p:spPr>
          <a:xfrm>
            <a:off x="9370337" y="5454777"/>
            <a:ext cx="2580238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2023-04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8CEE48-762D-EB9F-A197-C4A5C438ABFC}"/>
              </a:ext>
            </a:extLst>
          </p:cNvPr>
          <p:cNvSpPr txBox="1">
            <a:spLocks/>
          </p:cNvSpPr>
          <p:nvPr/>
        </p:nvSpPr>
        <p:spPr>
          <a:xfrm>
            <a:off x="7736733" y="473389"/>
            <a:ext cx="4213842" cy="439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FD graphs retrieved from </a:t>
            </a:r>
            <a:r>
              <a:rPr lang="en-US" sz="18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nmdb</a:t>
            </a:r>
            <a:r>
              <a:rPr lang="en-US" sz="1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NEST</a:t>
            </a:r>
          </a:p>
        </p:txBody>
      </p:sp>
    </p:spTree>
    <p:extLst>
      <p:ext uri="{BB962C8B-B14F-4D97-AF65-F5344CB8AC3E}">
        <p14:creationId xmlns:p14="http://schemas.microsoft.com/office/powerpoint/2010/main" val="63233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D255-687F-80A5-890B-5A338FBE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BBE4-A95C-4376-B83D-9DCFA730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NM Data Retrieval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62BF4-0A2D-4B01-6E65-42E18A40486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1F1E278-A455-CC0F-8B73-29DBC76F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5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8DDCA3-55A9-35C2-155A-9E614A133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7280982" y="3001550"/>
            <a:ext cx="4506630" cy="295641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9E3419A-FC3C-B989-5EF7-13A9A88CA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0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 and clean data downloaded from </a:t>
            </a:r>
            <a:r>
              <a:rPr lang="en-US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nmdb</a:t>
            </a: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9" name="Picture 18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031FAFBD-7B79-FA5C-2D28-385037BB9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865"/>
          <a:stretch>
            <a:fillRect/>
          </a:stretch>
        </p:blipFill>
        <p:spPr>
          <a:xfrm>
            <a:off x="838200" y="2527957"/>
            <a:ext cx="2868164" cy="3726815"/>
          </a:xfrm>
          <a:prstGeom prst="rect">
            <a:avLst/>
          </a:prstGeom>
        </p:spPr>
      </p:pic>
      <p:pic>
        <p:nvPicPr>
          <p:cNvPr id="21" name="Picture 20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5CA8077D-E3E0-6732-6E33-9CD26B608B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910"/>
          <a:stretch>
            <a:fillRect/>
          </a:stretch>
        </p:blipFill>
        <p:spPr>
          <a:xfrm>
            <a:off x="3771174" y="2527957"/>
            <a:ext cx="2445582" cy="3726816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E012BA3D-9381-1F7A-862D-A4B14585E4E5}"/>
              </a:ext>
            </a:extLst>
          </p:cNvPr>
          <p:cNvSpPr/>
          <p:nvPr/>
        </p:nvSpPr>
        <p:spPr>
          <a:xfrm>
            <a:off x="6380299" y="4208802"/>
            <a:ext cx="737139" cy="3651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6C38-F471-32A3-EB9C-5EE2DEE4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CCB4-77A0-E0CD-86B0-9ED8CFCB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NM Data Retrieval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B1D38-6B39-1DF2-D3FF-0B2BAE3658AB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0026BB8-28EC-B003-1B17-B81D7674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6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Picture 8" descr="A group of colorful lines&#10;&#10;AI-generated content may be incorrect.">
            <a:extLst>
              <a:ext uri="{FF2B5EF4-FFF2-40B4-BE49-F238E27FC236}">
                <a16:creationId xmlns:a16="http://schemas.microsoft.com/office/drawing/2014/main" id="{C63DEF27-319B-96A4-329A-C31BACB16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455" y="1399212"/>
            <a:ext cx="4973173" cy="4973173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C47EB1-B0DB-7A2B-C3DD-25B66794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1075" cy="40684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 and clean </a:t>
            </a:r>
            <a:r>
              <a:rPr lang="en-US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nmdb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data</a:t>
            </a:r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CAA0350-C780-CF41-852E-C92F8B83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388" y="3235893"/>
            <a:ext cx="2991843" cy="2255215"/>
          </a:xfrm>
          <a:prstGeom prst="rect">
            <a:avLst/>
          </a:prstGeom>
        </p:spPr>
      </p:pic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D9B9112-06ED-9815-9240-2AE1D03A68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997"/>
          <a:stretch>
            <a:fillRect/>
          </a:stretch>
        </p:blipFill>
        <p:spPr>
          <a:xfrm>
            <a:off x="430794" y="2475110"/>
            <a:ext cx="2066551" cy="377678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2103CC4-C3C5-5DC2-77DB-E6566F3A861D}"/>
              </a:ext>
            </a:extLst>
          </p:cNvPr>
          <p:cNvSpPr/>
          <p:nvPr/>
        </p:nvSpPr>
        <p:spPr>
          <a:xfrm>
            <a:off x="2623352" y="4180939"/>
            <a:ext cx="500848" cy="3651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7052277-422F-6FBD-5CD3-B03CC86D34A9}"/>
              </a:ext>
            </a:extLst>
          </p:cNvPr>
          <p:cNvSpPr/>
          <p:nvPr/>
        </p:nvSpPr>
        <p:spPr>
          <a:xfrm>
            <a:off x="6362419" y="4180939"/>
            <a:ext cx="500848" cy="3651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9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7A6B-368D-B1F3-0473-C1477B69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C220-07B5-77CA-BDF9-1B42C7F6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Long-term Trend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03BB-B7B4-8474-3079-FA121B63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- 12-hour moving average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Flattens long-term trends, but leaves out short-term changes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48075-0890-F04F-A609-4E56BBCC385D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7F7C6D1-AF0A-1F0A-3435-306A4CE3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7</a:t>
            </a:fld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D5A36B-4019-89A8-C7DA-4D32F5630702}"/>
              </a:ext>
            </a:extLst>
          </p:cNvPr>
          <p:cNvGrpSpPr/>
          <p:nvPr/>
        </p:nvGrpSpPr>
        <p:grpSpPr>
          <a:xfrm>
            <a:off x="676729" y="2973262"/>
            <a:ext cx="10838542" cy="3203701"/>
            <a:chOff x="509618" y="2582005"/>
            <a:chExt cx="10838542" cy="3203701"/>
          </a:xfrm>
        </p:grpSpPr>
        <p:pic>
          <p:nvPicPr>
            <p:cNvPr id="7" name="Picture 6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4FC09390-93DA-76CC-C475-0944F5EFB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>
            <a:xfrm>
              <a:off x="6464570" y="2582005"/>
              <a:ext cx="4883590" cy="320370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6D7B37-D2D9-935E-4AA2-7679144E6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>
            <a:xfrm>
              <a:off x="509618" y="2582005"/>
              <a:ext cx="4883590" cy="3203701"/>
            </a:xfrm>
            <a:prstGeom prst="rect">
              <a:avLst/>
            </a:prstGeom>
          </p:spPr>
        </p:pic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EA58C8DD-3482-2EB0-BE2B-2BC0494B54BD}"/>
                </a:ext>
              </a:extLst>
            </p:cNvPr>
            <p:cNvSpPr/>
            <p:nvPr/>
          </p:nvSpPr>
          <p:spPr>
            <a:xfrm>
              <a:off x="5557499" y="3818731"/>
              <a:ext cx="742780" cy="365125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6198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F494-1E9C-4FF0-A08E-3666BC27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3111-6819-4B0D-9C26-CFF8BA21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Long-term Trend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569C3-9B9B-54AC-5FED-2AD64B8B2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745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- 12-hour moving average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67DA2-0F99-2952-9B05-3D3051C49294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E90000E-9D73-8F7F-E732-9AFBA6F5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8</a:t>
            </a:fld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A00456-0BB5-0FE7-4299-81289A623B57}"/>
              </a:ext>
            </a:extLst>
          </p:cNvPr>
          <p:cNvGrpSpPr/>
          <p:nvPr/>
        </p:nvGrpSpPr>
        <p:grpSpPr>
          <a:xfrm>
            <a:off x="1078983" y="2308847"/>
            <a:ext cx="10034035" cy="4366590"/>
            <a:chOff x="838200" y="2308847"/>
            <a:chExt cx="10034035" cy="4366590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50DFFA6-D3BA-8D96-65B4-1BDFECB19E99}"/>
                </a:ext>
              </a:extLst>
            </p:cNvPr>
            <p:cNvSpPr/>
            <p:nvPr/>
          </p:nvSpPr>
          <p:spPr>
            <a:xfrm>
              <a:off x="5493282" y="4309579"/>
              <a:ext cx="742780" cy="365125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 descr="A group of colorful lines&#10;&#10;AI-generated content may be incorrect.">
              <a:extLst>
                <a:ext uri="{FF2B5EF4-FFF2-40B4-BE49-F238E27FC236}">
                  <a16:creationId xmlns:a16="http://schemas.microsoft.com/office/drawing/2014/main" id="{139222C6-F024-70B8-A570-7FC3BD22B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308847"/>
              <a:ext cx="4366590" cy="4366590"/>
            </a:xfrm>
            <a:prstGeom prst="rect">
              <a:avLst/>
            </a:prstGeom>
          </p:spPr>
        </p:pic>
        <p:pic>
          <p:nvPicPr>
            <p:cNvPr id="9" name="Picture 8" descr="A group of colorful lines&#10;&#10;AI-generated content may be incorrect.">
              <a:extLst>
                <a:ext uri="{FF2B5EF4-FFF2-40B4-BE49-F238E27FC236}">
                  <a16:creationId xmlns:a16="http://schemas.microsoft.com/office/drawing/2014/main" id="{012AF941-B721-B605-3055-DCE023876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554" y="2308847"/>
              <a:ext cx="4347681" cy="4351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869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AD42-50F7-7193-BF0E-E978E024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F89A-5752-4140-B437-7F219B5E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Cross-correlation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ACEA4-78DD-6447-B13F-3094790F814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12EFFDC-03DA-5084-7E87-8274D8BE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12" y="6492875"/>
            <a:ext cx="404388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9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 descr="A group of graphs showing different colored lines&#10;&#10;AI-generated content may be incorrect.">
            <a:extLst>
              <a:ext uri="{FF2B5EF4-FFF2-40B4-BE49-F238E27FC236}">
                <a16:creationId xmlns:a16="http://schemas.microsoft.com/office/drawing/2014/main" id="{9B006A93-7FFB-F2A3-3264-9C41C8EB2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228" y="244443"/>
            <a:ext cx="5516578" cy="6073944"/>
          </a:xfrm>
          <a:prstGeom prst="rect">
            <a:avLst/>
          </a:prstGeom>
        </p:spPr>
      </p:pic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AAF20783-EA21-2242-BB7F-AE4A20F46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1159819" y="3859420"/>
            <a:ext cx="3748347" cy="245896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98F589-C402-8774-D9F5-8DA9D16B3BA9}"/>
              </a:ext>
            </a:extLst>
          </p:cNvPr>
          <p:cNvSpPr/>
          <p:nvPr/>
        </p:nvSpPr>
        <p:spPr>
          <a:xfrm>
            <a:off x="5821378" y="3375004"/>
            <a:ext cx="651850" cy="3651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0C5B49-B604-7164-BB81-FF6E68D31716}"/>
              </a:ext>
            </a:extLst>
          </p:cNvPr>
          <p:cNvGrpSpPr/>
          <p:nvPr/>
        </p:nvGrpSpPr>
        <p:grpSpPr>
          <a:xfrm>
            <a:off x="315011" y="1689913"/>
            <a:ext cx="5437962" cy="1602381"/>
            <a:chOff x="196355" y="1414126"/>
            <a:chExt cx="5417234" cy="1424324"/>
          </a:xfrm>
        </p:grpSpPr>
        <p:pic>
          <p:nvPicPr>
            <p:cNvPr id="13" name="Picture 12" descr="A group of colorful lines&#10;&#10;AI-generated content may be incorrect.">
              <a:extLst>
                <a:ext uri="{FF2B5EF4-FFF2-40B4-BE49-F238E27FC236}">
                  <a16:creationId xmlns:a16="http://schemas.microsoft.com/office/drawing/2014/main" id="{1A0BF8CD-EFEF-774C-AB34-174D60DFC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939"/>
            <a:stretch>
              <a:fillRect/>
            </a:stretch>
          </p:blipFill>
          <p:spPr>
            <a:xfrm>
              <a:off x="2939044" y="1414126"/>
              <a:ext cx="2674545" cy="1424324"/>
            </a:xfrm>
            <a:prstGeom prst="rect">
              <a:avLst/>
            </a:prstGeom>
          </p:spPr>
        </p:pic>
        <p:pic>
          <p:nvPicPr>
            <p:cNvPr id="16" name="Picture 15" descr="A group of colorful lines&#10;&#10;AI-generated content may be incorrect.">
              <a:extLst>
                <a:ext uri="{FF2B5EF4-FFF2-40B4-BE49-F238E27FC236}">
                  <a16:creationId xmlns:a16="http://schemas.microsoft.com/office/drawing/2014/main" id="{E8CDA956-2E1E-E3BE-EFB1-49E05DC5D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939"/>
            <a:stretch>
              <a:fillRect/>
            </a:stretch>
          </p:blipFill>
          <p:spPr>
            <a:xfrm>
              <a:off x="196355" y="1414127"/>
              <a:ext cx="2674545" cy="1424323"/>
            </a:xfrm>
            <a:prstGeom prst="rect">
              <a:avLst/>
            </a:prstGeom>
          </p:spPr>
        </p:pic>
      </p:grp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F5408678-6B20-A0B7-8B7D-6293D01E4E66}"/>
              </a:ext>
            </a:extLst>
          </p:cNvPr>
          <p:cNvSpPr/>
          <p:nvPr/>
        </p:nvSpPr>
        <p:spPr>
          <a:xfrm>
            <a:off x="2806794" y="3333261"/>
            <a:ext cx="454399" cy="45439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0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B05B-9D64-673E-E609-02DBDEEA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5F1F-1714-F42A-22DA-39D06EEC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Forbush Decrease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150FA-FCDF-22F3-66FA-F6D2DD62A16C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5565F7A-0C78-8EFB-369A-1DCE2D68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794" y="6492875"/>
            <a:ext cx="712206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10</a:t>
            </a:fld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 descr="A group of graphs showing different colored lines&#10;&#10;AI-generated content may be incorrect.">
            <a:extLst>
              <a:ext uri="{FF2B5EF4-FFF2-40B4-BE49-F238E27FC236}">
                <a16:creationId xmlns:a16="http://schemas.microsoft.com/office/drawing/2014/main" id="{3FD6A7A1-7496-FAFD-AA71-E592C7F6A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49"/>
          <a:stretch>
            <a:fillRect/>
          </a:stretch>
        </p:blipFill>
        <p:spPr>
          <a:xfrm>
            <a:off x="884719" y="1690688"/>
            <a:ext cx="10422562" cy="28518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EA7D3-0385-77E3-CCE4-D056F5E4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432" y="4851441"/>
            <a:ext cx="9829136" cy="1095470"/>
          </a:xfrm>
          <a:ln w="28575">
            <a:solidFill>
              <a:srgbClr val="FF0000"/>
            </a:solidFill>
          </a:ln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Forbush Decrease “detected” if CCF is +5</a:t>
            </a:r>
            <a:r>
              <a:rPr lang="el-GR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σ</a:t>
            </a:r>
            <a:r>
              <a:rPr lang="en-US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from its median,</a:t>
            </a:r>
            <a:br>
              <a:rPr lang="en-US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en-US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simultaneously across 5 stations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98557-30B9-F3BF-BD74-C84B55FB5421}"/>
              </a:ext>
            </a:extLst>
          </p:cNvPr>
          <p:cNvSpPr/>
          <p:nvPr/>
        </p:nvSpPr>
        <p:spPr>
          <a:xfrm>
            <a:off x="8458199" y="2000250"/>
            <a:ext cx="208517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8F01AF-3D42-9342-5F80-72689FA53B62}"/>
              </a:ext>
            </a:extLst>
          </p:cNvPr>
          <p:cNvSpPr/>
          <p:nvPr/>
        </p:nvSpPr>
        <p:spPr>
          <a:xfrm>
            <a:off x="7975599" y="2000250"/>
            <a:ext cx="208517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AC3652-0935-70CE-DD21-5473164F29F2}"/>
              </a:ext>
            </a:extLst>
          </p:cNvPr>
          <p:cNvSpPr/>
          <p:nvPr/>
        </p:nvSpPr>
        <p:spPr>
          <a:xfrm>
            <a:off x="6934199" y="1999599"/>
            <a:ext cx="208517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6B0C7-6CE2-5FAF-7311-A855C27EE2A5}"/>
              </a:ext>
            </a:extLst>
          </p:cNvPr>
          <p:cNvSpPr/>
          <p:nvPr/>
        </p:nvSpPr>
        <p:spPr>
          <a:xfrm>
            <a:off x="5060949" y="1999599"/>
            <a:ext cx="146051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B9CDC-E53E-E817-12CA-FB64398BE72E}"/>
              </a:ext>
            </a:extLst>
          </p:cNvPr>
          <p:cNvSpPr/>
          <p:nvPr/>
        </p:nvSpPr>
        <p:spPr>
          <a:xfrm>
            <a:off x="5245616" y="1999599"/>
            <a:ext cx="146051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71BD75-197A-4E17-9B97-5162B6AE3AFF}"/>
              </a:ext>
            </a:extLst>
          </p:cNvPr>
          <p:cNvSpPr/>
          <p:nvPr/>
        </p:nvSpPr>
        <p:spPr>
          <a:xfrm>
            <a:off x="2006599" y="1999599"/>
            <a:ext cx="266701" cy="2094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1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42B6-2038-C605-7C63-2CE61CB9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A5F3-6372-3BAA-1CD5-A11300BB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E140-E70E-FA9A-D3F6-E2FBC628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4532766" cy="4466532"/>
          </a:xfrm>
          <a:ln w="38100"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Dates with actual FDs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2005-01-18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2005-01-21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2005-05-15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2005-08-24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2005-09-11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2023-04-23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2024-03-24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2024-05-10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A9E8A-EA11-4DE8-371B-2602858336AF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A179BD-AA71-4C9B-A977-79ACFEED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061" y="6492875"/>
            <a:ext cx="666939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FE1E01-DA67-E95C-D0C3-292A923F5D2D}"/>
              </a:ext>
            </a:extLst>
          </p:cNvPr>
          <p:cNvSpPr txBox="1">
            <a:spLocks/>
          </p:cNvSpPr>
          <p:nvPr/>
        </p:nvSpPr>
        <p:spPr>
          <a:xfrm>
            <a:off x="6096000" y="1825623"/>
            <a:ext cx="5104528" cy="4466533"/>
          </a:xfrm>
          <a:prstGeom prst="rect">
            <a:avLst/>
          </a:prstGeom>
          <a:ln w="38100">
            <a:solidFill>
              <a:schemeClr val="accent6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Dates with ‘detected’ FDs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2005-01-18  2005-01-21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2005-05-08  </a:t>
            </a: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2005-05-15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2005-07-16  </a:t>
            </a: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2005-08-24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2005-09-11  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2022-03-13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2023-03-15  2023-05-07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2023-05-09  2023-09-25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2024-03-24  2024-05-10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2024-08-10  2024-10-06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2024-10-10  2014-10-28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861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00CCC-DEA1-BAD6-52EC-C9C2429E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54A197-A525-6C3F-88E8-619374CB798C}"/>
              </a:ext>
            </a:extLst>
          </p:cNvPr>
          <p:cNvGrpSpPr/>
          <p:nvPr/>
        </p:nvGrpSpPr>
        <p:grpSpPr>
          <a:xfrm>
            <a:off x="7021324" y="686752"/>
            <a:ext cx="3860998" cy="1836857"/>
            <a:chOff x="6743856" y="448059"/>
            <a:chExt cx="3860998" cy="1836857"/>
          </a:xfrm>
        </p:grpSpPr>
        <p:pic>
          <p:nvPicPr>
            <p:cNvPr id="10" name="Picture 9" descr="A close up of words&#10;&#10;AI-generated content may be incorrect.">
              <a:extLst>
                <a:ext uri="{FF2B5EF4-FFF2-40B4-BE49-F238E27FC236}">
                  <a16:creationId xmlns:a16="http://schemas.microsoft.com/office/drawing/2014/main" id="{5A11FE56-C37B-2178-114D-E430ADDE3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3856" y="448059"/>
              <a:ext cx="3860998" cy="482625"/>
            </a:xfrm>
            <a:prstGeom prst="rect">
              <a:avLst/>
            </a:prstGeom>
          </p:spPr>
        </p:pic>
        <p:pic>
          <p:nvPicPr>
            <p:cNvPr id="12" name="Picture 11" descr="A close-up of a black text&#10;&#10;AI-generated content may be incorrect.">
              <a:extLst>
                <a:ext uri="{FF2B5EF4-FFF2-40B4-BE49-F238E27FC236}">
                  <a16:creationId xmlns:a16="http://schemas.microsoft.com/office/drawing/2014/main" id="{450EA56E-91BA-B0CD-89F9-A735CDEDF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6410" y="1059707"/>
              <a:ext cx="3695890" cy="495325"/>
            </a:xfrm>
            <a:prstGeom prst="rect">
              <a:avLst/>
            </a:prstGeom>
          </p:spPr>
        </p:pic>
        <p:pic>
          <p:nvPicPr>
            <p:cNvPr id="14" name="Picture 13" descr="A close-up of black text&#10;&#10;AI-generated content may be incorrect.">
              <a:extLst>
                <a:ext uri="{FF2B5EF4-FFF2-40B4-BE49-F238E27FC236}">
                  <a16:creationId xmlns:a16="http://schemas.microsoft.com/office/drawing/2014/main" id="{1F712D7C-1B69-D178-3D90-07CDCCE57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3592" y="1625165"/>
              <a:ext cx="2657334" cy="659751"/>
            </a:xfrm>
            <a:prstGeom prst="rect">
              <a:avLst/>
            </a:prstGeom>
          </p:spPr>
        </p:pic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B492013-53EA-D66C-5647-6435476AC047}"/>
              </a:ext>
            </a:extLst>
          </p:cNvPr>
          <p:cNvSpPr txBox="1">
            <a:spLocks/>
          </p:cNvSpPr>
          <p:nvPr/>
        </p:nvSpPr>
        <p:spPr>
          <a:xfrm>
            <a:off x="7526234" y="191955"/>
            <a:ext cx="2846986" cy="466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(https://www.labelf.ai/blog/what-is-accuracy-precision-recall-and-f1-score)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B42C0-4EBC-1AA3-68F1-C3833163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828F-EDEF-8BB9-6E2C-D4F22292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745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Confusion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968C9-6DBE-9FA3-0EB9-15C562F198CA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92BEC9B-E9F7-97BB-A458-D0022A4D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92875"/>
            <a:ext cx="838200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12</a:t>
            </a:fld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71E232-18CD-2DF7-6968-400066C85D7E}"/>
              </a:ext>
            </a:extLst>
          </p:cNvPr>
          <p:cNvGrpSpPr/>
          <p:nvPr/>
        </p:nvGrpSpPr>
        <p:grpSpPr>
          <a:xfrm>
            <a:off x="1264090" y="2542659"/>
            <a:ext cx="9663820" cy="3950216"/>
            <a:chOff x="1290874" y="2542659"/>
            <a:chExt cx="9663820" cy="3950216"/>
          </a:xfrm>
        </p:grpSpPr>
        <p:pic>
          <p:nvPicPr>
            <p:cNvPr id="7" name="Picture 6" descr="A chart of different colored squares&#10;&#10;AI-generated content may be incorrect.">
              <a:extLst>
                <a:ext uri="{FF2B5EF4-FFF2-40B4-BE49-F238E27FC236}">
                  <a16:creationId xmlns:a16="http://schemas.microsoft.com/office/drawing/2014/main" id="{25B50B2A-E1A4-F710-2241-CB09235CA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0874" y="2542659"/>
              <a:ext cx="5321819" cy="3950216"/>
            </a:xfrm>
            <a:prstGeom prst="rect">
              <a:avLst/>
            </a:prstGeom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4B72F24C-4AC5-C037-992B-E1C0E7FAD0E5}"/>
                </a:ext>
              </a:extLst>
            </p:cNvPr>
            <p:cNvSpPr txBox="1">
              <a:spLocks/>
            </p:cNvSpPr>
            <p:nvPr/>
          </p:nvSpPr>
          <p:spPr>
            <a:xfrm>
              <a:off x="6998329" y="2542659"/>
              <a:ext cx="3956365" cy="3496992"/>
            </a:xfrm>
            <a:custGeom>
              <a:avLst/>
              <a:gdLst>
                <a:gd name="csX0" fmla="*/ 0 w 3956365"/>
                <a:gd name="csY0" fmla="*/ 0 h 3496992"/>
                <a:gd name="csX1" fmla="*/ 738521 w 3956365"/>
                <a:gd name="csY1" fmla="*/ 0 h 3496992"/>
                <a:gd name="csX2" fmla="*/ 1318788 w 3956365"/>
                <a:gd name="csY2" fmla="*/ 0 h 3496992"/>
                <a:gd name="csX3" fmla="*/ 2017746 w 3956365"/>
                <a:gd name="csY3" fmla="*/ 0 h 3496992"/>
                <a:gd name="csX4" fmla="*/ 2558449 w 3956365"/>
                <a:gd name="csY4" fmla="*/ 0 h 3496992"/>
                <a:gd name="csX5" fmla="*/ 3296971 w 3956365"/>
                <a:gd name="csY5" fmla="*/ 0 h 3496992"/>
                <a:gd name="csX6" fmla="*/ 3956365 w 3956365"/>
                <a:gd name="csY6" fmla="*/ 0 h 3496992"/>
                <a:gd name="csX7" fmla="*/ 3956365 w 3956365"/>
                <a:gd name="csY7" fmla="*/ 664428 h 3496992"/>
                <a:gd name="csX8" fmla="*/ 3956365 w 3956365"/>
                <a:gd name="csY8" fmla="*/ 1258917 h 3496992"/>
                <a:gd name="csX9" fmla="*/ 3956365 w 3956365"/>
                <a:gd name="csY9" fmla="*/ 1923346 h 3496992"/>
                <a:gd name="csX10" fmla="*/ 3956365 w 3956365"/>
                <a:gd name="csY10" fmla="*/ 2517834 h 3496992"/>
                <a:gd name="csX11" fmla="*/ 3956365 w 3956365"/>
                <a:gd name="csY11" fmla="*/ 3496992 h 3496992"/>
                <a:gd name="csX12" fmla="*/ 3376098 w 3956365"/>
                <a:gd name="csY12" fmla="*/ 3496992 h 3496992"/>
                <a:gd name="csX13" fmla="*/ 2835395 w 3956365"/>
                <a:gd name="csY13" fmla="*/ 3496992 h 3496992"/>
                <a:gd name="csX14" fmla="*/ 2215564 w 3956365"/>
                <a:gd name="csY14" fmla="*/ 3496992 h 3496992"/>
                <a:gd name="csX15" fmla="*/ 1516607 w 3956365"/>
                <a:gd name="csY15" fmla="*/ 3496992 h 3496992"/>
                <a:gd name="csX16" fmla="*/ 778085 w 3956365"/>
                <a:gd name="csY16" fmla="*/ 3496992 h 3496992"/>
                <a:gd name="csX17" fmla="*/ 0 w 3956365"/>
                <a:gd name="csY17" fmla="*/ 3496992 h 3496992"/>
                <a:gd name="csX18" fmla="*/ 0 w 3956365"/>
                <a:gd name="csY18" fmla="*/ 2867533 h 3496992"/>
                <a:gd name="csX19" fmla="*/ 0 w 3956365"/>
                <a:gd name="csY19" fmla="*/ 2098195 h 3496992"/>
                <a:gd name="csX20" fmla="*/ 0 w 3956365"/>
                <a:gd name="csY20" fmla="*/ 1468737 h 3496992"/>
                <a:gd name="csX21" fmla="*/ 0 w 3956365"/>
                <a:gd name="csY21" fmla="*/ 839278 h 3496992"/>
                <a:gd name="csX22" fmla="*/ 0 w 3956365"/>
                <a:gd name="csY22" fmla="*/ 0 h 3496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956365" h="3496992" fill="none" extrusionOk="0">
                  <a:moveTo>
                    <a:pt x="0" y="0"/>
                  </a:moveTo>
                  <a:cubicBezTo>
                    <a:pt x="326254" y="-31921"/>
                    <a:pt x="468838" y="-27901"/>
                    <a:pt x="738521" y="0"/>
                  </a:cubicBezTo>
                  <a:cubicBezTo>
                    <a:pt x="1008204" y="27901"/>
                    <a:pt x="1052560" y="5826"/>
                    <a:pt x="1318788" y="0"/>
                  </a:cubicBezTo>
                  <a:cubicBezTo>
                    <a:pt x="1585016" y="-5826"/>
                    <a:pt x="1725841" y="-23984"/>
                    <a:pt x="2017746" y="0"/>
                  </a:cubicBezTo>
                  <a:cubicBezTo>
                    <a:pt x="2309651" y="23984"/>
                    <a:pt x="2383818" y="-19145"/>
                    <a:pt x="2558449" y="0"/>
                  </a:cubicBezTo>
                  <a:cubicBezTo>
                    <a:pt x="2733080" y="19145"/>
                    <a:pt x="3094490" y="-10259"/>
                    <a:pt x="3296971" y="0"/>
                  </a:cubicBezTo>
                  <a:cubicBezTo>
                    <a:pt x="3499452" y="10259"/>
                    <a:pt x="3700986" y="26884"/>
                    <a:pt x="3956365" y="0"/>
                  </a:cubicBezTo>
                  <a:cubicBezTo>
                    <a:pt x="3972353" y="304456"/>
                    <a:pt x="3945583" y="444829"/>
                    <a:pt x="3956365" y="664428"/>
                  </a:cubicBezTo>
                  <a:cubicBezTo>
                    <a:pt x="3967147" y="884027"/>
                    <a:pt x="3944140" y="1103691"/>
                    <a:pt x="3956365" y="1258917"/>
                  </a:cubicBezTo>
                  <a:cubicBezTo>
                    <a:pt x="3968590" y="1414143"/>
                    <a:pt x="3959607" y="1774811"/>
                    <a:pt x="3956365" y="1923346"/>
                  </a:cubicBezTo>
                  <a:cubicBezTo>
                    <a:pt x="3953123" y="2071881"/>
                    <a:pt x="3941164" y="2306242"/>
                    <a:pt x="3956365" y="2517834"/>
                  </a:cubicBezTo>
                  <a:cubicBezTo>
                    <a:pt x="3971566" y="2729426"/>
                    <a:pt x="3978843" y="3055585"/>
                    <a:pt x="3956365" y="3496992"/>
                  </a:cubicBezTo>
                  <a:cubicBezTo>
                    <a:pt x="3823732" y="3468864"/>
                    <a:pt x="3658119" y="3502291"/>
                    <a:pt x="3376098" y="3496992"/>
                  </a:cubicBezTo>
                  <a:cubicBezTo>
                    <a:pt x="3094077" y="3491693"/>
                    <a:pt x="2964723" y="3473873"/>
                    <a:pt x="2835395" y="3496992"/>
                  </a:cubicBezTo>
                  <a:cubicBezTo>
                    <a:pt x="2706067" y="3520111"/>
                    <a:pt x="2371370" y="3471246"/>
                    <a:pt x="2215564" y="3496992"/>
                  </a:cubicBezTo>
                  <a:cubicBezTo>
                    <a:pt x="2059758" y="3522738"/>
                    <a:pt x="1679172" y="3507890"/>
                    <a:pt x="1516607" y="3496992"/>
                  </a:cubicBezTo>
                  <a:cubicBezTo>
                    <a:pt x="1354042" y="3486094"/>
                    <a:pt x="982968" y="3528383"/>
                    <a:pt x="778085" y="3496992"/>
                  </a:cubicBezTo>
                  <a:cubicBezTo>
                    <a:pt x="573202" y="3465601"/>
                    <a:pt x="276061" y="3509411"/>
                    <a:pt x="0" y="3496992"/>
                  </a:cubicBezTo>
                  <a:cubicBezTo>
                    <a:pt x="-17688" y="3300046"/>
                    <a:pt x="-29513" y="3136630"/>
                    <a:pt x="0" y="2867533"/>
                  </a:cubicBezTo>
                  <a:cubicBezTo>
                    <a:pt x="29513" y="2598436"/>
                    <a:pt x="-6087" y="2396088"/>
                    <a:pt x="0" y="2098195"/>
                  </a:cubicBezTo>
                  <a:cubicBezTo>
                    <a:pt x="6087" y="1800302"/>
                    <a:pt x="31468" y="1645192"/>
                    <a:pt x="0" y="1468737"/>
                  </a:cubicBezTo>
                  <a:cubicBezTo>
                    <a:pt x="-31468" y="1292282"/>
                    <a:pt x="9985" y="1020123"/>
                    <a:pt x="0" y="839278"/>
                  </a:cubicBezTo>
                  <a:cubicBezTo>
                    <a:pt x="-9985" y="658433"/>
                    <a:pt x="-9717" y="290231"/>
                    <a:pt x="0" y="0"/>
                  </a:cubicBezTo>
                  <a:close/>
                </a:path>
                <a:path w="3956365" h="3496992" stroke="0" extrusionOk="0">
                  <a:moveTo>
                    <a:pt x="0" y="0"/>
                  </a:moveTo>
                  <a:cubicBezTo>
                    <a:pt x="144429" y="-14047"/>
                    <a:pt x="271069" y="-23738"/>
                    <a:pt x="540703" y="0"/>
                  </a:cubicBezTo>
                  <a:cubicBezTo>
                    <a:pt x="810337" y="23738"/>
                    <a:pt x="1027629" y="12183"/>
                    <a:pt x="1160534" y="0"/>
                  </a:cubicBezTo>
                  <a:cubicBezTo>
                    <a:pt x="1293439" y="-12183"/>
                    <a:pt x="1517705" y="-6994"/>
                    <a:pt x="1780364" y="0"/>
                  </a:cubicBezTo>
                  <a:cubicBezTo>
                    <a:pt x="2043023" y="6994"/>
                    <a:pt x="2312919" y="12802"/>
                    <a:pt x="2518886" y="0"/>
                  </a:cubicBezTo>
                  <a:cubicBezTo>
                    <a:pt x="2724853" y="-12802"/>
                    <a:pt x="2979436" y="-29989"/>
                    <a:pt x="3217844" y="0"/>
                  </a:cubicBezTo>
                  <a:cubicBezTo>
                    <a:pt x="3456252" y="29989"/>
                    <a:pt x="3723904" y="-23607"/>
                    <a:pt x="3956365" y="0"/>
                  </a:cubicBezTo>
                  <a:cubicBezTo>
                    <a:pt x="3930486" y="145981"/>
                    <a:pt x="3975391" y="377842"/>
                    <a:pt x="3956365" y="594489"/>
                  </a:cubicBezTo>
                  <a:cubicBezTo>
                    <a:pt x="3937339" y="811136"/>
                    <a:pt x="3966495" y="958768"/>
                    <a:pt x="3956365" y="1188977"/>
                  </a:cubicBezTo>
                  <a:cubicBezTo>
                    <a:pt x="3946235" y="1419186"/>
                    <a:pt x="3926629" y="1637403"/>
                    <a:pt x="3956365" y="1923346"/>
                  </a:cubicBezTo>
                  <a:cubicBezTo>
                    <a:pt x="3986101" y="2209289"/>
                    <a:pt x="3969462" y="2310250"/>
                    <a:pt x="3956365" y="2657714"/>
                  </a:cubicBezTo>
                  <a:cubicBezTo>
                    <a:pt x="3943268" y="3005178"/>
                    <a:pt x="3977740" y="3207372"/>
                    <a:pt x="3956365" y="3496992"/>
                  </a:cubicBezTo>
                  <a:cubicBezTo>
                    <a:pt x="3781586" y="3490616"/>
                    <a:pt x="3600334" y="3503521"/>
                    <a:pt x="3376098" y="3496992"/>
                  </a:cubicBezTo>
                  <a:cubicBezTo>
                    <a:pt x="3151862" y="3490463"/>
                    <a:pt x="3064552" y="3473846"/>
                    <a:pt x="2835395" y="3496992"/>
                  </a:cubicBezTo>
                  <a:cubicBezTo>
                    <a:pt x="2606238" y="3520138"/>
                    <a:pt x="2474202" y="3470493"/>
                    <a:pt x="2294692" y="3496992"/>
                  </a:cubicBezTo>
                  <a:cubicBezTo>
                    <a:pt x="2115182" y="3523491"/>
                    <a:pt x="1837222" y="3480171"/>
                    <a:pt x="1556170" y="3496992"/>
                  </a:cubicBezTo>
                  <a:cubicBezTo>
                    <a:pt x="1275118" y="3513813"/>
                    <a:pt x="1093494" y="3518327"/>
                    <a:pt x="857212" y="3496992"/>
                  </a:cubicBezTo>
                  <a:cubicBezTo>
                    <a:pt x="620930" y="3475657"/>
                    <a:pt x="340243" y="3523306"/>
                    <a:pt x="0" y="3496992"/>
                  </a:cubicBezTo>
                  <a:cubicBezTo>
                    <a:pt x="9307" y="3291775"/>
                    <a:pt x="-35628" y="2932826"/>
                    <a:pt x="0" y="2762624"/>
                  </a:cubicBezTo>
                  <a:cubicBezTo>
                    <a:pt x="35628" y="2592422"/>
                    <a:pt x="6734" y="2301700"/>
                    <a:pt x="0" y="2168135"/>
                  </a:cubicBezTo>
                  <a:cubicBezTo>
                    <a:pt x="-6734" y="2034570"/>
                    <a:pt x="23114" y="1775436"/>
                    <a:pt x="0" y="1573646"/>
                  </a:cubicBezTo>
                  <a:cubicBezTo>
                    <a:pt x="-23114" y="1371856"/>
                    <a:pt x="7431" y="1154432"/>
                    <a:pt x="0" y="804308"/>
                  </a:cubicBezTo>
                  <a:cubicBezTo>
                    <a:pt x="-7431" y="454184"/>
                    <a:pt x="39393" y="229810"/>
                    <a:pt x="0" y="0"/>
                  </a:cubicBezTo>
                  <a:close/>
                </a:path>
              </a:pathLst>
            </a:custGeom>
            <a:ln w="28575"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17043376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True Positives: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7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False Negatives: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False Positives: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11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endPara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Precision: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0.389 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Recall: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0.875 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F1 score: </a:t>
              </a:r>
              <a:r>
                <a:rPr 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0.538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08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25B2-92BC-A641-544F-223C6271E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7C5E8-5F67-97E4-C804-483E836D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CF26-F22E-1047-EC8C-4CE6646E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Cross-correlation of year-round and historical FD data from neutron monitors can detect FD events with great recall,</a:t>
            </a:r>
            <a:b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but leaves many false positives.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Neutron monitor data alone is not sufficient for FD detection.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FDs are often associated with stronger interplanetary magnetic fields or disturbances in Earth’s magnetic field (Belov 2008), so the associated data may help remove false positives.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97781-E51D-C9F8-7004-A565A482C4E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16B8EF2-4BB7-EE95-ABF2-9997DA93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869" y="6492875"/>
            <a:ext cx="1038131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13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81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882A-E8F1-CA8B-6509-8A51231A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3110-A70D-EEF7-1D17-39A30428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258C-7CD9-B8E0-D64D-5F5840A0C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Barrantes M, Valdés-Galicia JF, </a:t>
            </a:r>
            <a:r>
              <a:rPr lang="en-US" sz="2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Musalem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O, Hurtado A, </a:t>
            </a:r>
            <a:r>
              <a:rPr lang="en-US" sz="2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Anzorena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M, García R, et al. Atmospheric corrections of the cosmic ray fluxes detected by the Solar Neutron Telescope at the Summit of the Sierra Negra Volcano in Mexico. </a:t>
            </a:r>
            <a:r>
              <a:rPr lang="en-US" sz="2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Geofis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Int. 2018;57(4):253–75. Available from: http://dx.doi.org/10.22201/igeof.00167169p.2018.57.4.2105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Belov AV. Forbush effects and their connection with solar, interplanetary and geomagnetic phenomena. Proc Int Astron Union 2008;4(S257):439–50. Available from: http://dx.doi.org/10.1017/s1743921309029676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978BC-5AEC-C4A7-48E8-B7A89B15C1C4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DCF9571-ACCA-CDE2-1AED-ED127B04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3168" y="6492875"/>
            <a:ext cx="648832" cy="365125"/>
          </a:xfrm>
        </p:spPr>
        <p:txBody>
          <a:bodyPr/>
          <a:lstStyle/>
          <a:p>
            <a:fld id="{D9551EFF-A592-43A8-8BCE-C02425BEF640}" type="slidenum">
              <a:rPr lang="en-US" sz="2000" smtClean="0">
                <a:solidFill>
                  <a:schemeClr val="bg1"/>
                </a:solidFill>
              </a:rPr>
              <a:t>14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522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Calisto MT</vt:lpstr>
      <vt:lpstr>CMU Serif</vt:lpstr>
      <vt:lpstr>Office Theme</vt:lpstr>
      <vt:lpstr>Preliminary Detection of Neutron Monitor Forbush Decrease (FD) Events from Cross-Correlation with Historical FD Data</vt:lpstr>
      <vt:lpstr>Cosmic Rays</vt:lpstr>
      <vt:lpstr>Forbush Decreases (FD)</vt:lpstr>
      <vt:lpstr>SIP Project Overview</vt:lpstr>
      <vt:lpstr>NM Data Retrieval</vt:lpstr>
      <vt:lpstr>NM Data Retrieval</vt:lpstr>
      <vt:lpstr>Long-term Trend Removal</vt:lpstr>
      <vt:lpstr>Long-term Trend Removal</vt:lpstr>
      <vt:lpstr>Cross-correlation</vt:lpstr>
      <vt:lpstr>Forbush Decrease Detection</vt:lpstr>
      <vt:lpstr>Results</vt:lpstr>
      <vt:lpstr>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Hibiki Kohinata</dc:creator>
  <cp:lastModifiedBy>WBS</cp:lastModifiedBy>
  <cp:revision>60</cp:revision>
  <dcterms:created xsi:type="dcterms:W3CDTF">2025-08-30T05:11:23Z</dcterms:created>
  <dcterms:modified xsi:type="dcterms:W3CDTF">2025-12-10T13:08:19Z</dcterms:modified>
</cp:coreProperties>
</file>